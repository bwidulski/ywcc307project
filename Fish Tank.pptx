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Inter SemiBold"/>
      <p:regular r:id="rId30"/>
      <p:bold r:id="rId31"/>
      <p:italic r:id="rId32"/>
      <p:boldItalic r:id="rId33"/>
    </p:embeddedFont>
    <p:embeddedFont>
      <p:font typeface="Inter Light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Inter ExtraBold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italic.fntdata"/><Relationship Id="rId20" Type="http://schemas.openxmlformats.org/officeDocument/2006/relationships/slide" Target="slides/slide14.xml"/><Relationship Id="rId42" Type="http://schemas.openxmlformats.org/officeDocument/2006/relationships/font" Target="fonts/InterExtraBold-bold.fntdata"/><Relationship Id="rId41" Type="http://schemas.openxmlformats.org/officeDocument/2006/relationships/font" Target="fonts/Inter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InterExtraBold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.fntdata"/><Relationship Id="rId30" Type="http://schemas.openxmlformats.org/officeDocument/2006/relationships/font" Target="fonts/Inter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Inter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SemiBold-italic.fntdata"/><Relationship Id="rId13" Type="http://schemas.openxmlformats.org/officeDocument/2006/relationships/slide" Target="slides/slide7.xml"/><Relationship Id="rId35" Type="http://schemas.openxmlformats.org/officeDocument/2006/relationships/font" Target="fonts/InterLight-bold.fntdata"/><Relationship Id="rId12" Type="http://schemas.openxmlformats.org/officeDocument/2006/relationships/slide" Target="slides/slide6.xml"/><Relationship Id="rId34" Type="http://schemas.openxmlformats.org/officeDocument/2006/relationships/font" Target="fonts/InterLight-regular.fntdata"/><Relationship Id="rId15" Type="http://schemas.openxmlformats.org/officeDocument/2006/relationships/slide" Target="slides/slide9.xml"/><Relationship Id="rId37" Type="http://schemas.openxmlformats.org/officeDocument/2006/relationships/font" Target="fonts/Inter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Light-italic.fntdata"/><Relationship Id="rId17" Type="http://schemas.openxmlformats.org/officeDocument/2006/relationships/slide" Target="slides/slide11.xml"/><Relationship Id="rId39" Type="http://schemas.openxmlformats.org/officeDocument/2006/relationships/font" Target="fonts/Inter-bold.fntdata"/><Relationship Id="rId16" Type="http://schemas.openxmlformats.org/officeDocument/2006/relationships/slide" Target="slides/slide10.xml"/><Relationship Id="rId38" Type="http://schemas.openxmlformats.org/officeDocument/2006/relationships/font" Target="fonts/Inter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0f3ab7eb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50f3ab7eb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0f3ab7eb1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50f3ab7eb1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0f3ab7eb1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50f3ab7eb1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6c4539fc9_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56c4539fc9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0f3ab7eb1_2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0f3ab7eb1_2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0f3ab7eb1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50f3ab7eb1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6c4539fc9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56c4539fc9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56c4539fc9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56c4539fc9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0f3ab7eb1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0f3ab7eb1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50f3ab7eb1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50f3ab7eb1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519b8060a1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519b8060a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0f3ab7eb1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50f3ab7eb1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56c4539fc9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56c4539fc9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50f3ab7eb1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50f3ab7eb1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0f3ab7eb1_3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50f3ab7eb1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50f3ab7eb1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50f3ab7eb1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0f3ab7eb1_3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50f3ab7eb1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50f3ab7eb1_3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50f3ab7eb1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50f3ab7eb1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50f3ab7eb1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56c4539fc9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56c4539fc9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519b8060a1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519b8060a1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519b8060a1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519b8060a1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519b8060a1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519b8060a1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7" name="Google Shape;57;p1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59" name="Google Shape;59;p1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</a:t>
            </a: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ivider Slide">
  <p:cSld name="CUSTOM_3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66" name="Google Shape;66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5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68" name="Google Shape;68;p1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/ Mission" type="secHead">
  <p:cSld name="SECTION_HEADER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>
            <p:ph idx="2" type="pic"/>
          </p:nvPr>
        </p:nvSpPr>
        <p:spPr>
          <a:xfrm>
            <a:off x="5039775" y="203250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cxnSp>
        <p:nvCxnSpPr>
          <p:cNvPr id="73" name="Google Shape;73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75" name="Google Shape;75;p16"/>
          <p:cNvSpPr/>
          <p:nvPr>
            <p:ph idx="3" type="pic"/>
          </p:nvPr>
        </p:nvSpPr>
        <p:spPr>
          <a:xfrm>
            <a:off x="5039775" y="2624675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77" name="Google Shape;77;p1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" type="tx">
  <p:cSld name="TITLE_AND_BODY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7"/>
          <p:cNvSpPr txBox="1"/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2" type="title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4" name="Google Shape;84;p1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Model" type="twoColTx">
  <p:cSld name="TITLE_AND_TWO_COLUMNS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9" name="Google Shape;89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8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5605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2" type="body"/>
          </p:nvPr>
        </p:nvSpPr>
        <p:spPr>
          <a:xfrm>
            <a:off x="41131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8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 type="titleOnly">
  <p:cSld name="TITLE_ONLY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8" name="Google Shape;98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9"/>
          <p:cNvSpPr txBox="1"/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4" name="Google Shape;104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9"/>
          <p:cNvSpPr txBox="1"/>
          <p:nvPr>
            <p:ph idx="5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dvantage">
  <p:cSld name="ONE_COLUMN_TEXT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9" name="Google Shape;109;p2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20"/>
          <p:cNvSpPr txBox="1"/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11" name="Google Shape;111;p20"/>
          <p:cNvSpPr/>
          <p:nvPr>
            <p:ph idx="2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13" name="Google Shape;113;p2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20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MAIN_POINT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5663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2588275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4613113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66379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cxnSp>
        <p:nvCxnSpPr>
          <p:cNvPr id="121" name="Google Shape;121;p2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21"/>
          <p:cNvSpPr txBox="1"/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1" type="subTitle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6" type="subTitle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7" type="subTitle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8" type="subTitle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rrent Market / Market Size">
  <p:cSld name="SECTION_TITLE_AND_DESCRIPTION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32" name="Google Shape;132;p2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2" type="body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3" type="subTitle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4" type="body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5" type="subTitle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6" type="body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">
    <p:bg>
      <p:bgPr>
        <a:solidFill>
          <a:schemeClr val="dk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44" name="Google Shape;144;p2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2" type="body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47" name="Google Shape;147;p23"/>
          <p:cNvCxnSpPr>
            <a:endCxn id="148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3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3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3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4" type="body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5" type="subTitle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6" type="body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23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F6F5EC"/>
              </a:solidFill>
            </a:endParaRPr>
          </a:p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7" type="body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/ Graph">
  <p:cSld name="CAPTION_ONLY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p2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4"/>
          <p:cNvSpPr txBox="1"/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66" name="Google Shape;166;p2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Header">
  <p:cSld name="BIG_NUMBER">
    <p:bg>
      <p:bgPr>
        <a:solidFill>
          <a:schemeClr val="dk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/>
          <p:nvPr>
            <p:ph idx="2" type="pic"/>
          </p:nvPr>
        </p:nvSpPr>
        <p:spPr>
          <a:xfrm>
            <a:off x="213750" y="586950"/>
            <a:ext cx="8701800" cy="2327100"/>
          </a:xfrm>
          <a:prstGeom prst="roundRect">
            <a:avLst>
              <a:gd fmla="val 3913" name="adj"/>
            </a:avLst>
          </a:prstGeom>
          <a:noFill/>
          <a:ln>
            <a:noFill/>
          </a:ln>
        </p:spPr>
      </p:sp>
      <p:sp>
        <p:nvSpPr>
          <p:cNvPr id="171" name="Google Shape;171;p25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72" name="Google Shape;172;p2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4" name="Google Shape;174;p2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Strategy" type="blank">
  <p:cSld name="BLANK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sp>
        <p:nvSpPr>
          <p:cNvPr id="178" name="Google Shape;178;p26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cxnSp>
        <p:nvCxnSpPr>
          <p:cNvPr id="179" name="Google Shape;179;p2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6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6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26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26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5" name="Google Shape;185;p26"/>
          <p:cNvSpPr txBox="1"/>
          <p:nvPr>
            <p:ph idx="7" type="body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2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TITLE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2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7"/>
          <p:cNvSpPr txBox="1"/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92" name="Google Shape;192;p27"/>
          <p:cNvSpPr txBox="1"/>
          <p:nvPr>
            <p:ph idx="1" type="subTitle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93" name="Google Shape;193;p27"/>
          <p:cNvSpPr txBox="1"/>
          <p:nvPr>
            <p:ph idx="2" type="body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3" type="subTitle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95" name="Google Shape;195;p27"/>
          <p:cNvSpPr txBox="1"/>
          <p:nvPr>
            <p:ph idx="4" type="body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5" type="subTitle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97" name="Google Shape;197;p27"/>
          <p:cNvSpPr txBox="1"/>
          <p:nvPr>
            <p:ph idx="6" type="body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7" type="subTitle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99" name="Google Shape;199;p27"/>
          <p:cNvSpPr txBox="1"/>
          <p:nvPr>
            <p:ph idx="8" type="body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9" type="subTitle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01" name="Google Shape;201;p27"/>
          <p:cNvSpPr txBox="1"/>
          <p:nvPr>
            <p:ph idx="13" type="body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02" name="Google Shape;202;p27"/>
          <p:cNvSpPr txBox="1"/>
          <p:nvPr>
            <p:ph idx="14" type="subTitle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03" name="Google Shape;203;p27"/>
          <p:cNvSpPr txBox="1"/>
          <p:nvPr>
            <p:ph idx="15" type="body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04" name="Google Shape;204;p2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2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/ Benefits">
  <p:cSld name="CUSTOM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9" name="Google Shape;209;p2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8"/>
          <p:cNvSpPr txBox="1"/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/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12" name="Google Shape;212;p2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28"/>
          <p:cNvSpPr txBox="1"/>
          <p:nvPr>
            <p:ph idx="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">
    <p:bg>
      <p:bgPr>
        <a:solidFill>
          <a:schemeClr val="dk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/>
          <p:nvPr>
            <p:ph idx="2" type="pic"/>
          </p:nvPr>
        </p:nvSpPr>
        <p:spPr>
          <a:xfrm>
            <a:off x="2118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  <p:sp>
        <p:nvSpPr>
          <p:cNvPr id="217" name="Google Shape;217;p29"/>
          <p:cNvSpPr/>
          <p:nvPr>
            <p:ph idx="3" type="pic"/>
          </p:nvPr>
        </p:nvSpPr>
        <p:spPr>
          <a:xfrm>
            <a:off x="46397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Competition">
  <p:cSld name="CUSTOM_2"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>
            <p:ph idx="2" type="pic"/>
          </p:nvPr>
        </p:nvSpPr>
        <p:spPr>
          <a:xfrm>
            <a:off x="40147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20" name="Google Shape;220;p30"/>
          <p:cNvSpPr/>
          <p:nvPr>
            <p:ph idx="3" type="pic"/>
          </p:nvPr>
        </p:nvSpPr>
        <p:spPr>
          <a:xfrm>
            <a:off x="568857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21" name="Google Shape;221;p30"/>
          <p:cNvSpPr/>
          <p:nvPr>
            <p:ph idx="4" type="pic"/>
          </p:nvPr>
        </p:nvSpPr>
        <p:spPr>
          <a:xfrm>
            <a:off x="73624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22" name="Google Shape;222;p30"/>
          <p:cNvSpPr/>
          <p:nvPr>
            <p:ph idx="5" type="pic"/>
          </p:nvPr>
        </p:nvSpPr>
        <p:spPr>
          <a:xfrm>
            <a:off x="40147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23" name="Google Shape;223;p30"/>
          <p:cNvSpPr/>
          <p:nvPr>
            <p:ph idx="6" type="pic"/>
          </p:nvPr>
        </p:nvSpPr>
        <p:spPr>
          <a:xfrm>
            <a:off x="568857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24" name="Google Shape;224;p30"/>
          <p:cNvSpPr/>
          <p:nvPr>
            <p:ph idx="7" type="pic"/>
          </p:nvPr>
        </p:nvSpPr>
        <p:spPr>
          <a:xfrm>
            <a:off x="73624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cxnSp>
        <p:nvCxnSpPr>
          <p:cNvPr id="225" name="Google Shape;225;p3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0"/>
          <p:cNvSpPr txBox="1"/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28" name="Google Shape;228;p30"/>
          <p:cNvSpPr txBox="1"/>
          <p:nvPr>
            <p:ph idx="8" type="body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29" name="Google Shape;229;p30"/>
          <p:cNvSpPr txBox="1"/>
          <p:nvPr>
            <p:ph idx="9" type="subTitle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30" name="Google Shape;230;p30"/>
          <p:cNvSpPr txBox="1"/>
          <p:nvPr>
            <p:ph idx="13" type="subTitle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31" name="Google Shape;231;p30"/>
          <p:cNvSpPr txBox="1"/>
          <p:nvPr>
            <p:ph idx="14" type="subTitle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32" name="Google Shape;232;p30"/>
          <p:cNvSpPr txBox="1"/>
          <p:nvPr>
            <p:ph idx="15" type="subTitle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33" name="Google Shape;233;p30"/>
          <p:cNvSpPr txBox="1"/>
          <p:nvPr>
            <p:ph idx="16" type="subTitle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34" name="Google Shape;234;p30"/>
          <p:cNvSpPr txBox="1"/>
          <p:nvPr>
            <p:ph idx="17" type="subTitle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35" name="Google Shape;235;p3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30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1_1">
    <p:bg>
      <p:bgPr>
        <a:solidFill>
          <a:schemeClr val="dk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>
            <p:ph idx="2" type="pic"/>
          </p:nvPr>
        </p:nvSpPr>
        <p:spPr>
          <a:xfrm>
            <a:off x="2286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40" name="Google Shape;240;p31"/>
          <p:cNvSpPr/>
          <p:nvPr>
            <p:ph idx="3" type="pic"/>
          </p:nvPr>
        </p:nvSpPr>
        <p:spPr>
          <a:xfrm>
            <a:off x="39319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41" name="Google Shape;241;p31"/>
          <p:cNvSpPr/>
          <p:nvPr>
            <p:ph idx="4" type="pic"/>
          </p:nvPr>
        </p:nvSpPr>
        <p:spPr>
          <a:xfrm>
            <a:off x="7635600" y="59262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42" name="Google Shape;242;p31"/>
          <p:cNvSpPr/>
          <p:nvPr>
            <p:ph idx="5" type="pic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3" name="Google Shape;243;p31"/>
          <p:cNvSpPr/>
          <p:nvPr>
            <p:ph idx="6" type="pic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4" name="Google Shape;244;p31"/>
          <p:cNvSpPr/>
          <p:nvPr>
            <p:ph idx="7" type="pic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5" name="Google Shape;245;p31"/>
          <p:cNvSpPr/>
          <p:nvPr>
            <p:ph idx="8" type="pic"/>
          </p:nvPr>
        </p:nvSpPr>
        <p:spPr>
          <a:xfrm>
            <a:off x="1545425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46" name="Google Shape;246;p31"/>
          <p:cNvSpPr/>
          <p:nvPr>
            <p:ph idx="9" type="pic"/>
          </p:nvPr>
        </p:nvSpPr>
        <p:spPr>
          <a:xfrm>
            <a:off x="3932063" y="1963950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47" name="Google Shape;247;p31"/>
          <p:cNvSpPr/>
          <p:nvPr>
            <p:ph idx="13" type="pic"/>
          </p:nvPr>
        </p:nvSpPr>
        <p:spPr>
          <a:xfrm>
            <a:off x="5248888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48" name="Google Shape;248;p31"/>
          <p:cNvSpPr/>
          <p:nvPr>
            <p:ph idx="14" type="pic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9" name="Google Shape;249;p31"/>
          <p:cNvSpPr/>
          <p:nvPr>
            <p:ph idx="15" type="pic"/>
          </p:nvPr>
        </p:nvSpPr>
        <p:spPr>
          <a:xfrm>
            <a:off x="2286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50" name="Google Shape;250;p31"/>
          <p:cNvSpPr/>
          <p:nvPr>
            <p:ph idx="16" type="pic"/>
          </p:nvPr>
        </p:nvSpPr>
        <p:spPr>
          <a:xfrm>
            <a:off x="39319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51" name="Google Shape;251;p31"/>
          <p:cNvSpPr/>
          <p:nvPr>
            <p:ph idx="17" type="pic"/>
          </p:nvPr>
        </p:nvSpPr>
        <p:spPr>
          <a:xfrm>
            <a:off x="7635600" y="333527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52" name="Google Shape;252;p31"/>
          <p:cNvSpPr/>
          <p:nvPr>
            <p:ph idx="18" type="pic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3" name="Google Shape;253;p31"/>
          <p:cNvSpPr/>
          <p:nvPr>
            <p:ph idx="19" type="pic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31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55" name="Google Shape;255;p3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3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0" name="Google Shape;26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4" name="Google Shape;26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7" name="Google Shape;26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6" name="Google Shape;27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9" name="Google Shape;279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3" name="Google Shape;28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7" name="Google Shape;287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8" name="Google Shape;288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292" name="Google Shape;29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6" name="Google Shape;29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01" name="Google Shape;30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4" name="Google Shape;304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6" name="Google Shape;306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7" name="Google Shape;307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1" name="Google Shape;311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3" name="Google Shape;323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6" name="Google Shape;326;p4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4" name="Google Shape;334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6" name="Google Shape;336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42" name="Google Shape;34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9" name="Google Shape;34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51" name="Google Shape;351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2" name="Google Shape;352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5" name="Google Shape;355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62" name="Google Shape;3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3" name="Google Shape;3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77" name="Google Shape;377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08925" y="278025"/>
            <a:ext cx="44484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b="1"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613175" y="2780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6.xml"/><Relationship Id="rId4" Type="http://schemas.openxmlformats.org/officeDocument/2006/relationships/slide" Target="/ppt/slides/slide14.xml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slide" Target="/ppt/slides/slide5.xml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13.jpg"/><Relationship Id="rId6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slide" Target="/ppt/slides/slide5.xml"/><Relationship Id="rId6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1.jpg"/><Relationship Id="rId6" Type="http://schemas.openxmlformats.org/officeDocument/2006/relationships/image" Target="../media/image10.jpg"/><Relationship Id="rId7" Type="http://schemas.openxmlformats.org/officeDocument/2006/relationships/image" Target="../media/image1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/>
          <p:nvPr>
            <p:ph type="title"/>
          </p:nvPr>
        </p:nvSpPr>
        <p:spPr>
          <a:xfrm>
            <a:off x="420875" y="1705496"/>
            <a:ext cx="43248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 TANK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Swim with the Big Fish 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Even on a Small Budget.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3"/>
          <p:cNvSpPr txBox="1"/>
          <p:nvPr>
            <p:ph idx="2" type="title"/>
          </p:nvPr>
        </p:nvSpPr>
        <p:spPr>
          <a:xfrm>
            <a:off x="420875" y="3318663"/>
            <a:ext cx="40365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Evan Perea, Bradley Widulski, Michael Vythilengam, Thanh Mai </a:t>
            </a:r>
            <a:endParaRPr/>
          </a:p>
        </p:txBody>
      </p:sp>
      <p:pic>
        <p:nvPicPr>
          <p:cNvPr id="386" name="Google Shape;386;p53" title="images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2640" r="22645" t="0"/>
          <a:stretch/>
        </p:blipFill>
        <p:spPr>
          <a:xfrm>
            <a:off x="5039775" y="196800"/>
            <a:ext cx="3905400" cy="4749900"/>
          </a:xfrm>
          <a:prstGeom prst="roundRect">
            <a:avLst>
              <a:gd fmla="val 16667" name="adj"/>
            </a:avLst>
          </a:prstGeom>
        </p:spPr>
      </p:pic>
      <p:sp>
        <p:nvSpPr>
          <p:cNvPr id="387" name="Google Shape;387;p53"/>
          <p:cNvSpPr/>
          <p:nvPr/>
        </p:nvSpPr>
        <p:spPr>
          <a:xfrm>
            <a:off x="560525" y="1083400"/>
            <a:ext cx="1962600" cy="410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Investment Shoal</a:t>
            </a:r>
            <a:endParaRPr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</a:rPr>
              <a:t>Existing Products</a:t>
            </a:r>
            <a:endParaRPr sz="3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4"/>
          <p:cNvSpPr txBox="1"/>
          <p:nvPr>
            <p:ph idx="2" type="subTitle"/>
          </p:nvPr>
        </p:nvSpPr>
        <p:spPr>
          <a:xfrm>
            <a:off x="4323250" y="108683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●"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Venmo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CashApp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Public.com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Zogo Finance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GoFundMe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Char char="●"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NFTs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5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What are users looking for?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	Group Behavior and a sense of Community </a:t>
            </a:r>
            <a:endParaRPr b="1"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	Gamification</a:t>
            </a:r>
            <a:endParaRPr b="1"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	Emotion</a:t>
            </a:r>
            <a:endParaRPr b="1"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	Low entry barrier</a:t>
            </a:r>
            <a:endParaRPr b="1" sz="1400">
              <a:solidFill>
                <a:srgbClr val="FFFFFF"/>
              </a:solidFill>
            </a:endParaRPr>
          </a:p>
        </p:txBody>
      </p:sp>
      <p:pic>
        <p:nvPicPr>
          <p:cNvPr id="402" name="Google Shape;402;p55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5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</a:rPr>
              <a:t>Underserved Areas</a:t>
            </a:r>
            <a:endParaRPr sz="3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6"/>
          <p:cNvSpPr txBox="1"/>
          <p:nvPr>
            <p:ph idx="2" type="subTitle"/>
          </p:nvPr>
        </p:nvSpPr>
        <p:spPr>
          <a:xfrm>
            <a:off x="4323250" y="108683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Group Investing 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Collective Savings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Microlending/Peer-to-peer Credit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56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6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</a:t>
            </a:r>
            <a:endParaRPr/>
          </a:p>
        </p:txBody>
      </p:sp>
      <p:sp>
        <p:nvSpPr>
          <p:cNvPr id="417" name="Google Shape;417;p5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What is Fish Tank?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Benefits</a:t>
            </a:r>
            <a:r>
              <a:rPr lang="en"/>
              <a:t> for Investors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Types of Investments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Investor Protection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Risks and Rewards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Manage your Money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What is Fish Tank?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Benefits for Entrepreneurs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Investment Models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Fraud Prevention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Tiers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Support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Differentiation from existing products</a:t>
            </a:r>
            <a:endParaRPr/>
          </a:p>
        </p:txBody>
      </p:sp>
      <p:sp>
        <p:nvSpPr>
          <p:cNvPr id="419" name="Google Shape;419;p5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Business/Entrepreneurs</a:t>
            </a:r>
            <a:endParaRPr/>
          </a:p>
        </p:txBody>
      </p:sp>
      <p:sp>
        <p:nvSpPr>
          <p:cNvPr id="420" name="Google Shape;420;p5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Investors</a:t>
            </a:r>
            <a:endParaRPr/>
          </a:p>
        </p:txBody>
      </p:sp>
      <p:pic>
        <p:nvPicPr>
          <p:cNvPr id="421" name="Google Shape;421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0" y="4224500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00" y="4224500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What is Fish Tank for </a:t>
            </a:r>
            <a:r>
              <a:rPr lang="en" sz="3500">
                <a:solidFill>
                  <a:srgbClr val="FFFFFF"/>
                </a:solidFill>
              </a:rPr>
              <a:t>Entrepreneurs</a:t>
            </a:r>
            <a:r>
              <a:rPr lang="en" sz="3500">
                <a:solidFill>
                  <a:srgbClr val="FFFFFF"/>
                </a:solidFill>
              </a:rPr>
              <a:t>?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Get funding from retail investors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Fish Tank helps you find investors for </a:t>
            </a:r>
            <a:r>
              <a:rPr lang="en">
                <a:solidFill>
                  <a:srgbClr val="FFFFFF"/>
                </a:solidFill>
              </a:rPr>
              <a:t>your startup! From food trucks to the next Facebook, any business can flourish on Fish Tank!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An easy way to start up your business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Fish tank will help you set up a compliant and solid company so that you can focus on what you do best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Build your </a:t>
            </a:r>
            <a:r>
              <a:rPr b="1" lang="en" sz="1400">
                <a:solidFill>
                  <a:srgbClr val="FFFFFF"/>
                </a:solidFill>
              </a:rPr>
              <a:t>business</a:t>
            </a:r>
            <a:r>
              <a:rPr b="1" lang="en" sz="1400">
                <a:solidFill>
                  <a:srgbClr val="FFFFFF"/>
                </a:solidFill>
              </a:rPr>
              <a:t> with community support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Use our community to fund your business and dreams! With major success you can also help your investors.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29" name="Google Shape;429;p5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</a:rPr>
              <a:t>Benefits for Entrepreneurs</a:t>
            </a:r>
            <a:endParaRPr sz="3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9"/>
          <p:cNvSpPr txBox="1"/>
          <p:nvPr>
            <p:ph idx="2" type="subTitle"/>
          </p:nvPr>
        </p:nvSpPr>
        <p:spPr>
          <a:xfrm>
            <a:off x="4406650" y="84378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Focus on building, not chasing funding</a:t>
            </a:r>
            <a:b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9"/>
          <p:cNvSpPr txBox="1"/>
          <p:nvPr>
            <p:ph idx="3" type="subTitle"/>
          </p:nvPr>
        </p:nvSpPr>
        <p:spPr>
          <a:xfrm>
            <a:off x="4406650" y="26574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Compliance support: taxes, legal structure, reporting</a:t>
            </a:r>
            <a:b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More control over your business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sp>
        <p:nvSpPr>
          <p:cNvPr id="438" name="Google Shape;438;p59"/>
          <p:cNvSpPr txBox="1"/>
          <p:nvPr>
            <p:ph idx="4" type="subTitle"/>
          </p:nvPr>
        </p:nvSpPr>
        <p:spPr>
          <a:xfrm>
            <a:off x="4378650" y="138648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Access startup capital from many small investors</a:t>
            </a:r>
            <a:b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</p:txBody>
      </p:sp>
      <p:sp>
        <p:nvSpPr>
          <p:cNvPr id="439" name="Google Shape;439;p59"/>
          <p:cNvSpPr txBox="1"/>
          <p:nvPr>
            <p:ph idx="6" type="subTitle"/>
          </p:nvPr>
        </p:nvSpPr>
        <p:spPr>
          <a:xfrm>
            <a:off x="4406650" y="211476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Metrics dashboard to monitor performance</a:t>
            </a:r>
            <a:endParaRPr b="1" sz="1400"/>
          </a:p>
        </p:txBody>
      </p:sp>
      <p:pic>
        <p:nvPicPr>
          <p:cNvPr id="440" name="Google Shape;440;p59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9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Fraud Prevention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Verified entrepreneurs only (ID and business entity)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Funds held securely in escrow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Spending approvals ensure investor trust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Auditable business records</a:t>
            </a:r>
            <a:endParaRPr b="1" sz="1400">
              <a:solidFill>
                <a:srgbClr val="FFFFFF"/>
              </a:solidFill>
            </a:endParaRPr>
          </a:p>
        </p:txBody>
      </p:sp>
      <p:pic>
        <p:nvPicPr>
          <p:cNvPr id="448" name="Google Shape;448;p60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60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1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t/>
            </a:r>
            <a:endParaRPr b="1" sz="1400"/>
          </a:p>
        </p:txBody>
      </p:sp>
      <p:sp>
        <p:nvSpPr>
          <p:cNvPr id="455" name="Google Shape;455;p61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16667" name="adj"/>
            </a:avLst>
          </a:prstGeom>
        </p:spPr>
      </p:sp>
      <p:sp>
        <p:nvSpPr>
          <p:cNvPr id="456" name="Google Shape;456;p61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16667" name="adj"/>
            </a:avLst>
          </a:prstGeom>
        </p:spPr>
      </p:sp>
      <p:sp>
        <p:nvSpPr>
          <p:cNvPr id="457" name="Google Shape;457;p61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1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61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1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1"/>
          <p:cNvSpPr txBox="1"/>
          <p:nvPr>
            <p:ph idx="7" type="body"/>
          </p:nvPr>
        </p:nvSpPr>
        <p:spPr>
          <a:xfrm>
            <a:off x="450850" y="2036275"/>
            <a:ext cx="2955600" cy="20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Fixed returns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Revenue-based returns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Percentage ownership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462" name="Google Shape;462;p61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1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2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Tiers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2"/>
          <p:cNvSpPr txBox="1"/>
          <p:nvPr>
            <p:ph idx="2" type="body"/>
          </p:nvPr>
        </p:nvSpPr>
        <p:spPr>
          <a:xfrm>
            <a:off x="3347725" y="2266126"/>
            <a:ext cx="2455500" cy="19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Intermediate</a:t>
            </a:r>
            <a:r>
              <a:rPr lang="en">
                <a:solidFill>
                  <a:srgbClr val="FFFFFF"/>
                </a:solidFill>
              </a:rPr>
              <a:t> Tier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Funding capped at 5k per investor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Can offer percentage returns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0" name="Google Shape;470;p62"/>
          <p:cNvSpPr txBox="1"/>
          <p:nvPr>
            <p:ph idx="1" type="body"/>
          </p:nvPr>
        </p:nvSpPr>
        <p:spPr>
          <a:xfrm>
            <a:off x="483175" y="2417500"/>
            <a:ext cx="2455500" cy="18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Basic Tier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Funding capped at 1k per investor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Can offer fixed returns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1" name="Google Shape;471;p62"/>
          <p:cNvSpPr txBox="1"/>
          <p:nvPr>
            <p:ph idx="3" type="body"/>
          </p:nvPr>
        </p:nvSpPr>
        <p:spPr>
          <a:xfrm>
            <a:off x="6212275" y="2417500"/>
            <a:ext cx="2455500" cy="18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Advanced Tier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Funding capped at 10k per investor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Can offer percentage ownership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2" name="Google Shape;472;p62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Shrimp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3" name="Google Shape;473;p62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Swordfish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4" name="Google Shape;474;p62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Shark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75" name="Google Shape;475;p6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62"/>
          <p:cNvPicPr preferRelativeResize="0"/>
          <p:nvPr/>
        </p:nvPicPr>
        <p:blipFill rotWithShape="1">
          <a:blip r:embed="rId4">
            <a:alphaModFix/>
          </a:blip>
          <a:srcRect b="-271195" l="0" r="-271195" t="0"/>
          <a:stretch/>
        </p:blipFill>
        <p:spPr>
          <a:xfrm>
            <a:off x="4082125" y="1237675"/>
            <a:ext cx="7620000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2616" y="1611475"/>
            <a:ext cx="1086757" cy="11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8225" y="1017725"/>
            <a:ext cx="2027803" cy="164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Differentiation From Existing Products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Robinhood</a:t>
            </a:r>
            <a:endParaRPr b="1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Only allows investing in businesses (stocks) that are already on the market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GoFundMe</a:t>
            </a:r>
            <a:endParaRPr b="1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No expectation of returns, typically for single products or charity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86" name="Google Shape;486;p6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6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Support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Business setup help (LLC, tax ID, licensing)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Ongoing compliance monitoring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Escrow-managed disbursement = safety for you and investors</a:t>
            </a:r>
            <a:endParaRPr b="1" sz="1400">
              <a:solidFill>
                <a:srgbClr val="FFFFFF"/>
              </a:solidFill>
            </a:endParaRPr>
          </a:p>
        </p:txBody>
      </p:sp>
      <p:pic>
        <p:nvPicPr>
          <p:cNvPr id="494" name="Google Shape;494;p6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4" title="ChatGPT Image Apr 28, 2025, 06_40_45 PM.png">
            <a:hlinkClick action="ppaction://hlinksldjump" r:id="rId4"/>
          </p:cNvPr>
          <p:cNvPicPr preferRelativeResize="0"/>
          <p:nvPr/>
        </p:nvPicPr>
        <p:blipFill rotWithShape="1">
          <a:blip r:embed="rId5">
            <a:alphaModFix/>
          </a:blip>
          <a:srcRect b="13102" l="13872" r="13421" t="12910"/>
          <a:stretch/>
        </p:blipFill>
        <p:spPr>
          <a:xfrm>
            <a:off x="0" y="3513125"/>
            <a:ext cx="71760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65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5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5" title="IMG_08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3" y="0"/>
            <a:ext cx="237334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65" title="IMG_08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5328" y="0"/>
            <a:ext cx="237334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65" title="IMG_083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6853" y="0"/>
            <a:ext cx="237334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is Fish Tank for Investors?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Invest in real startups at early stages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great opportunity for everyday people to invest their money. Plus </a:t>
            </a:r>
            <a:r>
              <a:rPr lang="en"/>
              <a:t>diversify</a:t>
            </a:r>
            <a:r>
              <a:rPr lang="en"/>
              <a:t> their </a:t>
            </a:r>
            <a:r>
              <a:rPr lang="en"/>
              <a:t>portfolio</a:t>
            </a:r>
            <a:r>
              <a:rPr lang="en"/>
              <a:t> from stocks and have another way of making money.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Small investments = big potential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investments at the beginning of the startup can lead up to large sum of money </a:t>
            </a:r>
            <a:r>
              <a:rPr lang="en"/>
              <a:t>depending</a:t>
            </a:r>
            <a:r>
              <a:rPr lang="en"/>
              <a:t> if the </a:t>
            </a:r>
            <a:r>
              <a:rPr lang="en"/>
              <a:t>business</a:t>
            </a:r>
            <a:r>
              <a:rPr lang="en"/>
              <a:t> is successful.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Community-driven investment platform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Allows you to speak to the owners and speaking about their projects and business models. This makes it easy to communicate with each other and have a </a:t>
            </a:r>
            <a:r>
              <a:rPr lang="en"/>
              <a:t>community</a:t>
            </a:r>
            <a:r>
              <a:rPr lang="en"/>
              <a:t> to back up the </a:t>
            </a:r>
            <a:r>
              <a:rPr lang="en"/>
              <a:t>business</a:t>
            </a:r>
            <a:r>
              <a:rPr lang="en"/>
              <a:t>.</a:t>
            </a:r>
            <a:endParaRPr/>
          </a:p>
        </p:txBody>
      </p:sp>
      <p:pic>
        <p:nvPicPr>
          <p:cNvPr id="513" name="Google Shape;513;p66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6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Benefits for Investors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6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Potential for real financial returns</a:t>
            </a:r>
            <a:endParaRPr sz="1400"/>
          </a:p>
        </p:txBody>
      </p:sp>
      <p:sp>
        <p:nvSpPr>
          <p:cNvPr id="521" name="Google Shape;521;p6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Community forums to discuss investments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Influence startups through direct feedback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3" name="Google Shape;523;p67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67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8"/>
          <p:cNvSpPr txBox="1"/>
          <p:nvPr>
            <p:ph idx="2" type="body"/>
          </p:nvPr>
        </p:nvSpPr>
        <p:spPr>
          <a:xfrm>
            <a:off x="3751350" y="1866250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Fixed return payouts based on milestones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Example is investing $100 and you will get $150 when the company earns $50.000</a:t>
            </a:r>
            <a:endParaRPr sz="1200"/>
          </a:p>
        </p:txBody>
      </p:sp>
      <p:sp>
        <p:nvSpPr>
          <p:cNvPr id="530" name="Google Shape;530;p68"/>
          <p:cNvSpPr txBox="1"/>
          <p:nvPr>
            <p:ph idx="1" type="body"/>
          </p:nvPr>
        </p:nvSpPr>
        <p:spPr>
          <a:xfrm>
            <a:off x="602250" y="1866250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Own a % of a business.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If the company grows your equity increases in value.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example $100 = 0.01% ownership in the startup.</a:t>
            </a:r>
            <a:endParaRPr sz="1200"/>
          </a:p>
        </p:txBody>
      </p:sp>
      <p:sp>
        <p:nvSpPr>
          <p:cNvPr id="531" name="Google Shape;531;p68"/>
          <p:cNvSpPr txBox="1"/>
          <p:nvPr>
            <p:ph idx="3" type="body"/>
          </p:nvPr>
        </p:nvSpPr>
        <p:spPr>
          <a:xfrm>
            <a:off x="7026475" y="1866250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Revenue-</a:t>
            </a:r>
            <a:r>
              <a:rPr lang="en" sz="1200"/>
              <a:t>sharing</a:t>
            </a:r>
            <a:r>
              <a:rPr lang="en" sz="1200"/>
              <a:t> models.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Depending on the company </a:t>
            </a:r>
            <a:r>
              <a:rPr lang="en" sz="1200"/>
              <a:t>performance</a:t>
            </a:r>
            <a:r>
              <a:rPr lang="en" sz="1200"/>
              <a:t>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example 3% of the revenue until you </a:t>
            </a:r>
            <a:r>
              <a:rPr lang="en" sz="1200"/>
              <a:t>earn</a:t>
            </a:r>
            <a:r>
              <a:rPr lang="en" sz="1200"/>
              <a:t> 1.5x your investment.</a:t>
            </a:r>
            <a:endParaRPr sz="1200"/>
          </a:p>
        </p:txBody>
      </p:sp>
      <p:sp>
        <p:nvSpPr>
          <p:cNvPr id="532" name="Google Shape;532;p68"/>
          <p:cNvSpPr txBox="1"/>
          <p:nvPr>
            <p:ph idx="4294967295"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Investments</a:t>
            </a:r>
            <a:endParaRPr/>
          </a:p>
        </p:txBody>
      </p:sp>
      <p:pic>
        <p:nvPicPr>
          <p:cNvPr id="533" name="Google Shape;533;p6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Investor Protection</a:t>
            </a:r>
            <a:endParaRPr sz="3500"/>
          </a:p>
        </p:txBody>
      </p:sp>
      <p:sp>
        <p:nvSpPr>
          <p:cNvPr id="540" name="Google Shape;540;p69"/>
          <p:cNvSpPr txBox="1"/>
          <p:nvPr>
            <p:ph idx="1" type="body"/>
          </p:nvPr>
        </p:nvSpPr>
        <p:spPr>
          <a:xfrm>
            <a:off x="311700" y="1152475"/>
            <a:ext cx="4473900" cy="30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Verified entrepreneurs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Escrow accounts safeguard your money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Strict approval process = credible startups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Fraud detection and legal protection in place</a:t>
            </a:r>
            <a:endParaRPr/>
          </a:p>
        </p:txBody>
      </p:sp>
      <p:pic>
        <p:nvPicPr>
          <p:cNvPr id="541" name="Google Shape;541;p69" title="ChatGPT Image Apr 28, 2025, 06_28_34 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524" l="0" r="0" t="5515"/>
          <a:stretch/>
        </p:blipFill>
        <p:spPr>
          <a:xfrm>
            <a:off x="4992025" y="1152775"/>
            <a:ext cx="3840300" cy="3090900"/>
          </a:xfrm>
          <a:prstGeom prst="rect">
            <a:avLst/>
          </a:prstGeom>
        </p:spPr>
      </p:pic>
      <p:pic>
        <p:nvPicPr>
          <p:cNvPr id="542" name="Google Shape;542;p69"/>
          <p:cNvPicPr preferRelativeResize="0"/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9"/>
          <p:cNvPicPr preferRelativeResize="0"/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 and Rewards</a:t>
            </a:r>
            <a:endParaRPr/>
          </a:p>
        </p:txBody>
      </p:sp>
      <p:sp>
        <p:nvSpPr>
          <p:cNvPr id="549" name="Google Shape;549;p70"/>
          <p:cNvSpPr txBox="1"/>
          <p:nvPr>
            <p:ph idx="1" type="body"/>
          </p:nvPr>
        </p:nvSpPr>
        <p:spPr>
          <a:xfrm>
            <a:off x="483150" y="2237798"/>
            <a:ext cx="3619800" cy="20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Loss of Investment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Lack of Liquidity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0"/>
          <p:cNvSpPr txBox="1"/>
          <p:nvPr>
            <p:ph idx="2" type="body"/>
          </p:nvPr>
        </p:nvSpPr>
        <p:spPr>
          <a:xfrm>
            <a:off x="5048000" y="2237798"/>
            <a:ext cx="3619800" cy="20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Full refund if fraud occurs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Early Access </a:t>
            </a:r>
            <a:r>
              <a:rPr lang="en"/>
              <a:t>Opportunities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Financial</a:t>
            </a:r>
            <a:r>
              <a:rPr lang="en"/>
              <a:t> Return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Diversification</a:t>
            </a:r>
            <a:endParaRPr/>
          </a:p>
        </p:txBody>
      </p:sp>
      <p:sp>
        <p:nvSpPr>
          <p:cNvPr id="551" name="Google Shape;551;p7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</a:t>
            </a:r>
            <a:endParaRPr/>
          </a:p>
        </p:txBody>
      </p:sp>
      <p:sp>
        <p:nvSpPr>
          <p:cNvPr id="552" name="Google Shape;552;p7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Rewards</a:t>
            </a:r>
            <a:endParaRPr/>
          </a:p>
        </p:txBody>
      </p:sp>
      <p:pic>
        <p:nvPicPr>
          <p:cNvPr id="553" name="Google Shape;553;p70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70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1"/>
          <p:cNvSpPr txBox="1"/>
          <p:nvPr>
            <p:ph idx="4294967295"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your Money</a:t>
            </a:r>
            <a:endParaRPr/>
          </a:p>
        </p:txBody>
      </p:sp>
      <p:sp>
        <p:nvSpPr>
          <p:cNvPr id="560" name="Google Shape;560;p71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 credit cards — only verified bank accounts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Funds used only for approved expenses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Transparent reporting and auditability</a:t>
            </a:r>
            <a:endParaRPr/>
          </a:p>
        </p:txBody>
      </p:sp>
      <p:pic>
        <p:nvPicPr>
          <p:cNvPr id="561" name="Google Shape;561;p71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71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71" title="ChatGPT Image Apr 28, 2025, 06_33_3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250" y="1206525"/>
            <a:ext cx="3619525" cy="303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71" title="ChatGPT Image Apr 28, 2025, 06_35_43 PM.png">
            <a:hlinkClick action="ppaction://hlinksldjump" r:id="rId5"/>
          </p:cNvPr>
          <p:cNvPicPr preferRelativeResize="0"/>
          <p:nvPr/>
        </p:nvPicPr>
        <p:blipFill rotWithShape="1">
          <a:blip r:embed="rId6">
            <a:alphaModFix/>
          </a:blip>
          <a:srcRect b="13324" l="14525" r="14305" t="15612"/>
          <a:stretch/>
        </p:blipFill>
        <p:spPr>
          <a:xfrm>
            <a:off x="0" y="3618175"/>
            <a:ext cx="626099" cy="62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7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7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72" title="IMG_08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15073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72" title="IMG_08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1089" y="0"/>
            <a:ext cx="215073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72" title="IMG_083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2177" y="0"/>
            <a:ext cx="215073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72" title="IMG_083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3266" y="0"/>
            <a:ext cx="215073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Profit Structure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2-5% on all investor transactions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2-5% on all business revenues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Future plans include operating investment pool as a bank, reinvesting this money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FFFFFF"/>
              </a:solidFill>
            </a:endParaRPr>
          </a:p>
        </p:txBody>
      </p:sp>
      <p:pic>
        <p:nvPicPr>
          <p:cNvPr id="581" name="Google Shape;581;p7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7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Example  Businesses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Tech Companies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Food Trucks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Local Businesses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</a:rPr>
              <a:t>Video Games</a:t>
            </a:r>
            <a:endParaRPr b="1"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FFFFFF"/>
              </a:solidFill>
            </a:endParaRPr>
          </a:p>
        </p:txBody>
      </p:sp>
      <p:pic>
        <p:nvPicPr>
          <p:cNvPr id="589" name="Google Shape;589;p7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7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Works Cited</a:t>
            </a:r>
            <a:endParaRPr sz="3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Hayes, A. (2024, October 18). </a:t>
            </a:r>
            <a:r>
              <a:rPr i="1"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venture capital? Definition, pros, cons, and how it works</a:t>
            </a: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Investopedia.</a:t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https://www.investopedia.com/terms/v/venturecapital.asp</a:t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Hood, T. (2024, November 4). </a:t>
            </a:r>
            <a:r>
              <a:rPr i="1"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Fraud Prevention resources for Startups</a:t>
            </a: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Burkland. https://burklandassociates.com/2024/11/04/fraud-prevention-resources-for-startups/</a:t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Johnston, M. (2024, June 14). </a:t>
            </a:r>
            <a:r>
              <a:rPr i="1"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Robinhood makes money</a:t>
            </a: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Investopedia. https://www.investopedia.com/articles/active-trading/020515/how-robinhood-makes-money.asp</a:t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Team, T. P. (2024, November 7). </a:t>
            </a:r>
            <a:r>
              <a:rPr i="1"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Social Finance for Social Impact</a:t>
            </a:r>
            <a:r>
              <a:rPr lang="en" sz="10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Purppl. https://purppl.com/understanding-social-finance-for-social-impact/ </a:t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 screenshots generated with help of Rork AI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generated with help of Chatgpt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7" name="Google Shape;597;p75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75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2000" y="4243375"/>
            <a:ext cx="4572000" cy="12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">
  <a:themeElements>
    <a:clrScheme name="Simple Light">
      <a:dk1>
        <a:srgbClr val="1A36B4"/>
      </a:dk1>
      <a:lt1>
        <a:srgbClr val="F6F5EC"/>
      </a:lt1>
      <a:dk2>
        <a:srgbClr val="1D1D1D"/>
      </a:dk2>
      <a:lt2>
        <a:srgbClr val="A4C2F4"/>
      </a:lt2>
      <a:accent1>
        <a:srgbClr val="FFFFFF"/>
      </a:accent1>
      <a:accent2>
        <a:srgbClr val="1A36B4"/>
      </a:accent2>
      <a:accent3>
        <a:srgbClr val="1D1D1D"/>
      </a:accent3>
      <a:accent4>
        <a:srgbClr val="F6F5EC"/>
      </a:accent4>
      <a:accent5>
        <a:srgbClr val="1A36B4"/>
      </a:accent5>
      <a:accent6>
        <a:srgbClr val="595959"/>
      </a:accent6>
      <a:hlink>
        <a:srgbClr val="A4C2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